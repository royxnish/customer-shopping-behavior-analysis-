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6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4E79"/>
                </a:solidFill>
                <a:latin typeface="Arial"/>
              </a:defRPr>
            </a:pPr>
            <a:r>
              <a:rPr sz="1400" b="0" i="0" u="none" strike="noStrike">
                <a:solidFill>
                  <a:srgbClr val="1F4E79"/>
                </a:solidFill>
                <a:latin typeface="Arial"/>
              </a:rPr>
              <a:t>Revenue by Gender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E86C1"/>
              </a:solidFill>
              <a:effectLst/>
            </c:spPr>
          </c:dPt>
          <c:dPt>
            <c:idx val="1"/>
            <c:bubble3D val="0"/>
            <c:spPr>
              <a:solidFill>
                <a:srgbClr val="17A589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Male</c:v>
                </c:pt>
                <c:pt idx="1">
                  <c:v>Female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157890</c:v>
                </c:pt>
                <c:pt idx="1">
                  <c:v>75191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      </a:defRPr>
          </a:pPr>
          <a:endParaRPr lang="en-US"/>
        </a:p>
      </c:txPr>
    </c:legend>
    <c:plotVisOnly val="1"/>
    <c:dispBlanksAs val="span"/>
  </c:chart>
  <c:spPr>
    <a:solidFill>
      <a:srgbClr val="F0F4F8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4E79"/>
                </a:solidFill>
                <a:latin typeface="Arial"/>
              </a:defRPr>
            </a:pPr>
            <a:r>
              <a:rPr sz="1400" b="0" i="0" u="none" strike="noStrike">
                <a:solidFill>
                  <a:srgbClr val="1F4E79"/>
                </a:solidFill>
                <a:latin typeface="Arial"/>
              </a:rPr>
              <a:t>Revenue by Age Group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(USD)</c:v>
                </c:pt>
              </c:strCache>
            </c:strRef>
          </c:tx>
          <c:spPr>
            <a:solidFill>
              <a:srgbClr val="2E86C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E86C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7A589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39C12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74C3C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8E44AD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18-24</c:v>
                  </c:pt>
                  <c:pt idx="1">
                    <c:v>25-34</c:v>
                  </c:pt>
                  <c:pt idx="2">
                    <c:v>35-44</c:v>
                  </c:pt>
                  <c:pt idx="3">
                    <c:v>45-54</c:v>
                  </c:pt>
                  <c:pt idx="4">
                    <c:v>55+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29258</c:v>
                </c:pt>
                <c:pt idx="1">
                  <c:v>45400</c:v>
                </c:pt>
                <c:pt idx="2">
                  <c:v>43463</c:v>
                </c:pt>
                <c:pt idx="3">
                  <c:v>45370</c:v>
                </c:pt>
                <c:pt idx="4">
                  <c:v>69590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D6D7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D6D7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0F4F8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4E79"/>
                </a:solidFill>
                <a:latin typeface="Arial"/>
              </a:defRPr>
            </a:pPr>
            <a:r>
              <a:rPr sz="1400" b="0" i="0" u="none" strike="noStrike">
                <a:solidFill>
                  <a:srgbClr val="1F4E79"/>
                </a:solidFill>
                <a:latin typeface="Arial"/>
              </a:rPr>
              <a:t>Customer Segments by Purchase History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Customers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E86C1"/>
              </a:solidFill>
              <a:effectLst/>
            </c:spPr>
          </c:dPt>
          <c:dPt>
            <c:idx val="1"/>
            <c:bubble3D val="0"/>
            <c:spPr>
              <a:solidFill>
                <a:srgbClr val="17A589"/>
              </a:solidFill>
              <a:effectLst/>
            </c:spPr>
          </c:dPt>
          <c:dPt>
            <c:idx val="2"/>
            <c:bubble3D val="0"/>
            <c:spPr>
              <a:solidFill>
                <a:srgbClr val="F39C12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Loyal (11+ purchases)</c:v>
                </c:pt>
                <c:pt idx="1">
                  <c:v>Returning (2-10)</c:v>
                </c:pt>
                <c:pt idx="2">
                  <c:v>New (0-1)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3116</c:v>
                </c:pt>
                <c:pt idx="1">
                  <c:v>701</c:v>
                </c:pt>
                <c:pt idx="2">
                  <c:v>83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      </a:defRPr>
          </a:pPr>
          <a:endParaRPr lang="en-US"/>
        </a:p>
      </c:txPr>
    </c:legend>
    <c:plotVisOnly val="1"/>
    <c:dispBlanksAs val="span"/>
  </c:chart>
  <c:spPr>
    <a:solidFill>
      <a:srgbClr val="F0F4F8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4E79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F4E79"/>
                </a:solidFill>
                <a:latin typeface="Arial"/>
              </a:rPr>
              <a:t>Avg Purchase: Subscribed vs Not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Purchase (USD)</c:v>
                </c:pt>
              </c:strCache>
            </c:strRef>
          </c:tx>
          <c:spPr>
            <a:solidFill>
              <a:srgbClr val="2E86C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E86C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7A589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Subscribed</c:v>
                  </c:pt>
                  <c:pt idx="1">
                    <c:v>Not Subscribed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59.49</c:v>
                </c:pt>
                <c:pt idx="1">
                  <c:v>59.87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4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D6D7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D6D7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0F4F8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4E79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F4E79"/>
                </a:solidFill>
                <a:latin typeface="Arial"/>
              </a:rPr>
              <a:t>Discount Application Rate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Transactions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39C12"/>
              </a:solidFill>
              <a:effectLst/>
            </c:spPr>
          </c:dPt>
          <c:dPt>
            <c:idx val="1"/>
            <c:bubble3D val="0"/>
            <c:spPr>
              <a:solidFill>
                <a:srgbClr val="BDC3C7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Discount Applied</c:v>
                </c:pt>
                <c:pt idx="1">
                  <c:v>No Discount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1677</c:v>
                </c:pt>
                <c:pt idx="1">
                  <c:v>2223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      </a:defRPr>
          </a:pPr>
          <a:endParaRPr lang="en-US"/>
        </a:p>
      </c:txPr>
    </c:legend>
    <c:plotVisOnly val="1"/>
    <c:dispBlanksAs val="span"/>
  </c:chart>
  <c:spPr>
    <a:solidFill>
      <a:srgbClr val="F0F4F8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4E79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F4E79"/>
                </a:solidFill>
                <a:latin typeface="Arial"/>
              </a:rPr>
              <a:t>Transactions by Category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Transactions</c:v>
                </c:pt>
              </c:strCache>
            </c:strRef>
          </c:tx>
          <c:spPr>
            <a:solidFill>
              <a:srgbClr val="2E86C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E86C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7A589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39C12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74C3C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Clothing</c:v>
                  </c:pt>
                  <c:pt idx="1">
                    <c:v>Accessories</c:v>
                  </c:pt>
                  <c:pt idx="2">
                    <c:v>Footwear</c:v>
                  </c:pt>
                  <c:pt idx="3">
                    <c:v>Outerwear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1737</c:v>
                </c:pt>
                <c:pt idx="1">
                  <c:v>1240</c:v>
                </c:pt>
                <c:pt idx="2">
                  <c:v>599</c:v>
                </c:pt>
                <c:pt idx="3">
                  <c:v>324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D6D7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D6D7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0F4F8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40080"/>
            <a:ext cx="7772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SHOPPING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 ANALYSIS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365760" y="28346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A9C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Leveraging Consumer Data to Drive Business Strategy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3611880"/>
            <a:ext cx="1920240" cy="1188720"/>
          </a:xfrm>
          <a:prstGeom prst="rect">
            <a:avLst/>
          </a:prstGeom>
          <a:solidFill>
            <a:srgbClr val="1B2A3B"/>
          </a:solidFill>
          <a:ln w="12700">
            <a:solidFill>
              <a:srgbClr val="17A58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36576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3,900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42519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9C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560320" y="3611880"/>
            <a:ext cx="1920240" cy="1188720"/>
          </a:xfrm>
          <a:prstGeom prst="rect">
            <a:avLst/>
          </a:prstGeom>
          <a:solidFill>
            <a:srgbClr val="1B2A3B"/>
          </a:solidFill>
          <a:ln w="12700">
            <a:solidFill>
              <a:srgbClr val="17A58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60320" y="36576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$233K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560320" y="42519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9C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3611880"/>
            <a:ext cx="1920240" cy="1188720"/>
          </a:xfrm>
          <a:prstGeom prst="rect">
            <a:avLst/>
          </a:prstGeom>
          <a:solidFill>
            <a:srgbClr val="1B2A3B"/>
          </a:solidFill>
          <a:ln w="12700">
            <a:solidFill>
              <a:srgbClr val="17A58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54880" y="36576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$59.76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754880" y="42519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9C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Purchase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949440" y="3611880"/>
            <a:ext cx="1920240" cy="1188720"/>
          </a:xfrm>
          <a:prstGeom prst="rect">
            <a:avLst/>
          </a:prstGeom>
          <a:solidFill>
            <a:srgbClr val="1B2A3B"/>
          </a:solidFill>
          <a:ln w="12700">
            <a:solidFill>
              <a:srgbClr val="17A58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949440" y="36576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3.75 / 5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949440" y="42519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9C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Rating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772400" y="-457200"/>
            <a:ext cx="2286000" cy="2286000"/>
          </a:xfrm>
          <a:prstGeom prst="ellipse">
            <a:avLst/>
          </a:prstGeom>
          <a:solidFill>
            <a:srgbClr val="17A589">
              <a:alpha val="20000"/>
            </a:srgbClr>
          </a:solidFill>
          <a:ln w="12700">
            <a:solidFill>
              <a:srgbClr val="17A589">
                <a:alpha val="2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0" y="1371600"/>
            <a:ext cx="1645920" cy="1645920"/>
          </a:xfrm>
          <a:prstGeom prst="ellipse">
            <a:avLst/>
          </a:prstGeom>
          <a:solidFill>
            <a:srgbClr val="2E86C1">
              <a:alpha val="15000"/>
            </a:srgbClr>
          </a:solidFill>
          <a:ln w="12700">
            <a:solidFill>
              <a:srgbClr val="2E86C1">
                <a:alpha val="1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319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BDC3C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502920" cy="7315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05840"/>
            <a:ext cx="502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100584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Context &amp; Objectives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965960"/>
            <a:ext cx="39319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BDC3C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965960"/>
            <a:ext cx="502920" cy="7315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965960"/>
            <a:ext cx="502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51560" y="196596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926080"/>
            <a:ext cx="39319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BDC3C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926080"/>
            <a:ext cx="502920" cy="7315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926080"/>
            <a:ext cx="502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51560" y="292608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Analysis (Gender &amp; Age)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886200"/>
            <a:ext cx="39319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BDC3C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886200"/>
            <a:ext cx="502920" cy="7315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886200"/>
            <a:ext cx="502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51560" y="388620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029200" y="1005840"/>
            <a:ext cx="39319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BDC3C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029200" y="1005840"/>
            <a:ext cx="502920" cy="7315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0" y="1005840"/>
            <a:ext cx="502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623560" y="100584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&amp; Discount Insights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029200" y="1965960"/>
            <a:ext cx="39319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BDC3C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029200" y="1965960"/>
            <a:ext cx="502920" cy="7315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0" y="1965960"/>
            <a:ext cx="502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623560" y="196596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&amp; Category Performance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029200" y="2926080"/>
            <a:ext cx="39319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BDC3C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029200" y="2926080"/>
            <a:ext cx="502920" cy="7315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0" y="2926080"/>
            <a:ext cx="502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623560" y="292608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029200" y="3886200"/>
            <a:ext cx="39319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BDC3C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029200" y="3886200"/>
            <a:ext cx="502920" cy="7315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0" y="3886200"/>
            <a:ext cx="502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623560" y="388620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CONTEXT &amp; OBJECTIVES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8595360" cy="12801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51560"/>
            <a:ext cx="8229600" cy="109728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Question: </a:t>
            </a:r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can the company leverage consumer shopping data to identify trends, improve customer engagement, and optimize marketing and product strategies?"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2468880"/>
            <a:ext cx="20116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BDC3C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2468880"/>
            <a:ext cx="2011680" cy="41148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2468880"/>
            <a:ext cx="201168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Revenue Analysis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2971800"/>
            <a:ext cx="1828800" cy="1737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Breakdown by gender, age group &amp; category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468880" y="2468880"/>
            <a:ext cx="20116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BDC3C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68880" y="2468880"/>
            <a:ext cx="2011680" cy="41148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68880" y="2468880"/>
            <a:ext cx="201168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Customer Segments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560320" y="2971800"/>
            <a:ext cx="1828800" cy="1737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New, Returning, and Loyal classifications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63440" y="2468880"/>
            <a:ext cx="20116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BDC3C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63440" y="2468880"/>
            <a:ext cx="2011680" cy="41148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2468880"/>
            <a:ext cx="201168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🏷️ Discount Impact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54880" y="2971800"/>
            <a:ext cx="1828800" cy="1737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 of promotions on purchase value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858000" y="2468880"/>
            <a:ext cx="20116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BDC3C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858000" y="2468880"/>
            <a:ext cx="2011680" cy="41148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0" y="2468880"/>
            <a:ext cx="201168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Product Quality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949440" y="2971800"/>
            <a:ext cx="1828800" cy="1737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ratings &amp; top-performing items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1920240" cy="137160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05156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3,900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274320" y="17373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Records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450592" y="960120"/>
            <a:ext cx="1920240" cy="1371600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50592" y="105156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450592" y="17373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/ Features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26864" y="960120"/>
            <a:ext cx="1920240" cy="137160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26864" y="105156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$233K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626864" y="17373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03136" y="960120"/>
            <a:ext cx="1920240" cy="137160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03136" y="105156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803136" y="17373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Categories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2514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Variable Groups: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74320" y="2926080"/>
            <a:ext cx="41148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BDC3C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926080"/>
            <a:ext cx="73152" cy="7315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92608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327355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Gender, Location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09160" y="2926080"/>
            <a:ext cx="41148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BDC3C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09160" y="2926080"/>
            <a:ext cx="73152" cy="7315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292608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Transactional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92040" y="327355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Amount, Season, Category, Item, Shipping Type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3840480"/>
            <a:ext cx="41148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BDC3C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3840480"/>
            <a:ext cx="73152" cy="7315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84048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418795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Frequency, Previous Purchases, Subscription Status, Payment Method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09160" y="3840480"/>
            <a:ext cx="41148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BDC3C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09160" y="3840480"/>
            <a:ext cx="73152" cy="7315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92040" y="384048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892040" y="418795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Rating, Discount Applied, Promo Code Used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ANALYSIS: GENDER &amp; AGE GROUP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914400"/>
          <a:ext cx="41148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4572000" y="914400"/>
          <a:ext cx="429768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274320" y="4251960"/>
            <a:ext cx="8595360" cy="64008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365760" y="4251960"/>
            <a:ext cx="841248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Insight: Male customers generate 67.7% of revenue. The 55+ age group is the top contributor at $69,590 (29.9%). The 18–24 segment represents the largest growth opportunity.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182880" y="914400"/>
          <a:ext cx="45720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4937760" y="1005840"/>
            <a:ext cx="39319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BDC3C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937760" y="1005840"/>
            <a:ext cx="73152" cy="10058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74920" y="10515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New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074920" y="13898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 Purchases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074920" y="166420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 (2.1%)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315200" y="1234440"/>
            <a:ext cx="1417320" cy="50292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315200" y="1234440"/>
            <a:ext cx="141732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Acquire &amp; Onboard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937760" y="2194560"/>
            <a:ext cx="39319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BDC3C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937760" y="2194560"/>
            <a:ext cx="73152" cy="1005840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074920" y="224028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Returning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5074920" y="25786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2–10 Purchases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074920" y="28529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701 (18.0%)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7315200" y="2423160"/>
            <a:ext cx="1417320" cy="502920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315200" y="2423160"/>
            <a:ext cx="141732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Nurture &amp; Convert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937760" y="3383280"/>
            <a:ext cx="39319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BDC3C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937760" y="3383280"/>
            <a:ext cx="73152" cy="100584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074920" y="342900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Loyal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5074920" y="37673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11+ Purchases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5074920" y="40416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3,116 (79.9%)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7315200" y="3611880"/>
            <a:ext cx="1417320" cy="5029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315200" y="3611880"/>
            <a:ext cx="141732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 &amp; Upsell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274320" y="4663440"/>
            <a:ext cx="8595360" cy="25603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65760" y="4663440"/>
            <a:ext cx="841248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80% Loyal customers — strong retention base, but new customer acquisition needs urgent attention.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&amp; DISCOUNT INSIGHTS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914400"/>
          <a:ext cx="411480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4572000" y="914400"/>
          <a:ext cx="429768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274320" y="3657600"/>
            <a:ext cx="85953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BDC3C7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411480" y="3657600"/>
            <a:ext cx="832104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Subscribers spend only $0.38 less on average — subscription does NOT drive higher spend meaningfully.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274320" y="4114800"/>
            <a:ext cx="8595360" cy="384048"/>
          </a:xfrm>
          <a:prstGeom prst="rect">
            <a:avLst/>
          </a:prstGeom>
          <a:solidFill>
            <a:srgbClr val="EBF5FB"/>
          </a:solidFill>
          <a:ln w="12700">
            <a:solidFill>
              <a:srgbClr val="BDC3C7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411480" y="4114800"/>
            <a:ext cx="832104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🏷️  43% of transactions use discounts, yet many of these buyers still exceed the average $59.76 spend.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274320" y="4572000"/>
            <a:ext cx="85953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BDC3C7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11480" y="4572000"/>
            <a:ext cx="832104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 72.4% of repeat buyers (&gt;5 purchases) are not subscribed — massive conversion opportunity.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&amp; CATEGORY PERFORMANCE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914400"/>
          <a:ext cx="484632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303520" y="9144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Products by Review Rating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303520" y="1417320"/>
            <a:ext cx="35661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BDC3C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303520" y="1417320"/>
            <a:ext cx="411480" cy="41148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303520" y="1417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806440" y="1417320"/>
            <a:ext cx="192024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Gloves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680960" y="1417320"/>
            <a:ext cx="118872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3.86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303520" y="1892808"/>
            <a:ext cx="35661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BDC3C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303520" y="1892808"/>
            <a:ext cx="411480" cy="411480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303520" y="18928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806440" y="1892808"/>
            <a:ext cx="192024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Sandals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680960" y="1892808"/>
            <a:ext cx="118872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3.84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303520" y="2368296"/>
            <a:ext cx="35661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BDC3C7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303520" y="2368296"/>
            <a:ext cx="411480" cy="41148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303520" y="236829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806440" y="2368296"/>
            <a:ext cx="192024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7680960" y="2368296"/>
            <a:ext cx="118872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3.82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5303520" y="2843784"/>
            <a:ext cx="35661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BDC3C7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303520" y="2843784"/>
            <a:ext cx="411480" cy="41148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303520" y="284378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5806440" y="2843784"/>
            <a:ext cx="192024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7680960" y="2843784"/>
            <a:ext cx="118872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3.80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5303520" y="3319272"/>
            <a:ext cx="35661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BDC3C7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303520" y="3319272"/>
            <a:ext cx="411480" cy="41148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303520" y="33192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#5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5806440" y="3319272"/>
            <a:ext cx="192024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Skirt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7680960" y="3319272"/>
            <a:ext cx="118872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3.79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274320" y="379476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Distribution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274320" y="4160520"/>
            <a:ext cx="1920240" cy="685800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274320" y="416052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274320" y="4507992"/>
            <a:ext cx="19202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999 orders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2468880" y="4160520"/>
            <a:ext cx="1920240" cy="68580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2468880" y="416052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2468880" y="4507992"/>
            <a:ext cx="19202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975 orders</a:t>
            </a:r>
            <a:endParaRPr lang="en-US" sz="1200" dirty="0"/>
          </a:p>
        </p:txBody>
      </p:sp>
      <p:sp>
        <p:nvSpPr>
          <p:cNvPr id="38" name="Shape 35"/>
          <p:cNvSpPr/>
          <p:nvPr/>
        </p:nvSpPr>
        <p:spPr>
          <a:xfrm>
            <a:off x="4663440" y="4160520"/>
            <a:ext cx="1920240" cy="68580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663440" y="416052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Winter</a:t>
            </a:r>
            <a:endParaRPr lang="en-US" sz="1200" dirty="0"/>
          </a:p>
        </p:txBody>
      </p:sp>
      <p:sp>
        <p:nvSpPr>
          <p:cNvPr id="40" name="Text 37"/>
          <p:cNvSpPr/>
          <p:nvPr/>
        </p:nvSpPr>
        <p:spPr>
          <a:xfrm>
            <a:off x="4663440" y="4507992"/>
            <a:ext cx="19202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971 orders</a:t>
            </a:r>
            <a:endParaRPr lang="en-US" sz="1200" dirty="0"/>
          </a:p>
        </p:txBody>
      </p:sp>
      <p:sp>
        <p:nvSpPr>
          <p:cNvPr id="41" name="Shape 38"/>
          <p:cNvSpPr/>
          <p:nvPr/>
        </p:nvSpPr>
        <p:spPr>
          <a:xfrm>
            <a:off x="6858000" y="4160520"/>
            <a:ext cx="1920240" cy="68580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6858000" y="416052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</a:t>
            </a:r>
            <a:endParaRPr lang="en-US" sz="1200" dirty="0"/>
          </a:p>
        </p:txBody>
      </p:sp>
      <p:sp>
        <p:nvSpPr>
          <p:cNvPr id="43" name="Text 40"/>
          <p:cNvSpPr/>
          <p:nvPr/>
        </p:nvSpPr>
        <p:spPr>
          <a:xfrm>
            <a:off x="6858000" y="4507992"/>
            <a:ext cx="19202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955 orders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RECOMMENDATIONS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206240" cy="1143000"/>
          </a:xfrm>
          <a:prstGeom prst="rect">
            <a:avLst/>
          </a:prstGeom>
          <a:solidFill>
            <a:srgbClr val="1B2A3B"/>
          </a:solidFill>
          <a:ln w="12700">
            <a:solidFill>
              <a:srgbClr val="17A58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502920" cy="1143000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60120"/>
            <a:ext cx="502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60120" y="103327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Female Customers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1344168"/>
            <a:ext cx="3474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C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campaigns, referral incentives, and gender-specific catalog curation to close the 35% revenue gap.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960120"/>
            <a:ext cx="4206240" cy="1143000"/>
          </a:xfrm>
          <a:prstGeom prst="rect">
            <a:avLst/>
          </a:prstGeom>
          <a:solidFill>
            <a:srgbClr val="1B2A3B"/>
          </a:solidFill>
          <a:ln w="12700">
            <a:solidFill>
              <a:srgbClr val="2E86C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960120"/>
            <a:ext cx="502920" cy="114300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960120"/>
            <a:ext cx="502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440680" y="103327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Revamp Subscription Benefits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40680" y="1344168"/>
            <a:ext cx="3474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C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exclusive perks: free shipping, early access, loyalty tiers. Convert the 72% of repeat buyers not yet subscribed.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286000"/>
            <a:ext cx="4206240" cy="1143000"/>
          </a:xfrm>
          <a:prstGeom prst="rect">
            <a:avLst/>
          </a:prstGeom>
          <a:solidFill>
            <a:srgbClr val="1B2A3B"/>
          </a:solidFill>
          <a:ln w="12700">
            <a:solidFill>
              <a:srgbClr val="F39C1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286000"/>
            <a:ext cx="502920" cy="114300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286000"/>
            <a:ext cx="502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960120" y="235915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Youth Acquisition (18–24)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60120" y="2670048"/>
            <a:ext cx="3474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C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campaigns, student discounts, and influencer marketing to grow the smallest but highest-potential segment.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46320" y="2286000"/>
            <a:ext cx="4206240" cy="1143000"/>
          </a:xfrm>
          <a:prstGeom prst="rect">
            <a:avLst/>
          </a:prstGeom>
          <a:solidFill>
            <a:srgbClr val="1B2A3B"/>
          </a:solidFill>
          <a:ln w="12700">
            <a:solidFill>
              <a:srgbClr val="8E44A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2286000"/>
            <a:ext cx="502920" cy="114300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2286000"/>
            <a:ext cx="502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440680" y="235915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Discount Strategy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40680" y="2670048"/>
            <a:ext cx="3474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C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broad discounts with targeted, time-limited promos on low-demand SKUs to protect margins.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3611880"/>
            <a:ext cx="4206240" cy="1143000"/>
          </a:xfrm>
          <a:prstGeom prst="rect">
            <a:avLst/>
          </a:prstGeom>
          <a:solidFill>
            <a:srgbClr val="1B2A3B"/>
          </a:solidFill>
          <a:ln w="12700">
            <a:solidFill>
              <a:srgbClr val="E74C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3611880"/>
            <a:ext cx="502920" cy="114300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611880"/>
            <a:ext cx="502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960120" y="368503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Inventory Planning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60120" y="3995928"/>
            <a:ext cx="3474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C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 stock and campaigns with seasonal peaks (Spring/Winter). Lead Winter with Outerwear; Summer with Sandals/Footwear.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46320" y="3611880"/>
            <a:ext cx="4206240" cy="1143000"/>
          </a:xfrm>
          <a:prstGeom prst="rect">
            <a:avLst/>
          </a:prstGeom>
          <a:solidFill>
            <a:srgbClr val="1B2A3B"/>
          </a:solidFill>
          <a:ln w="12700">
            <a:solidFill>
              <a:srgbClr val="1ABC9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46320" y="3611880"/>
            <a:ext cx="502920" cy="114300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3611880"/>
            <a:ext cx="502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5440680" y="368503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Amplify Top-Rated Products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440680" y="3995928"/>
            <a:ext cx="3474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C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Gloves, Sandals, and Boots in homepage hero sections and email marketing to leverage quality perception.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Tells Us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1481328"/>
            <a:ext cx="347472" cy="347472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4813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04672" y="1481328"/>
            <a:ext cx="8092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strong loyal core exists — 80% of customers have 11+ purchases. Retention is working.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029968"/>
            <a:ext cx="347472" cy="347472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0299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04672" y="2029968"/>
            <a:ext cx="8092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and age gaps are revenue opportunities: female and 18–24 segments are underserved.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2578608"/>
            <a:ext cx="347472" cy="347472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5786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04672" y="2578608"/>
            <a:ext cx="8092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and discounts need rethinking — they are not currently differentiating spend behavior.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3127248"/>
            <a:ext cx="347472" cy="347472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1272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04672" y="3127248"/>
            <a:ext cx="8092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Footwear and Accessories drive satisfaction (top ratings) and should lead marketing narratives.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3675888"/>
            <a:ext cx="347472" cy="347472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6758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04672" y="3675888"/>
            <a:ext cx="8092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and shipping patterns are uniform — opportunity to create demand spikes through targeted promotions.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4663440"/>
            <a:ext cx="859536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Shopping Behavior Analysis  |  All code, SQL queries, and dashboards available on GitHub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Shopping Behavior Analysis</dc:title>
  <dc:subject>PptxGenJS Presentation</dc:subject>
  <dc:creator>Data Analytics Team</dc:creator>
  <cp:lastModifiedBy>Data Analytics Team</cp:lastModifiedBy>
  <cp:revision>1</cp:revision>
  <dcterms:created xsi:type="dcterms:W3CDTF">2026-05-25T21:02:44Z</dcterms:created>
  <dcterms:modified xsi:type="dcterms:W3CDTF">2026-05-25T21:02:44Z</dcterms:modified>
</cp:coreProperties>
</file>